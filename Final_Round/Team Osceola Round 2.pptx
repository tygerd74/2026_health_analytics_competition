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6673c530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6673c530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6673c530e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6673c530e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6673c530e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6673c530e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c6f9e470d_0_8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c6f9e470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6673c530e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6673c530e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6673c530e_1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6673c530e_1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643225" y="2152347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Prediction to Shared Decision Making - A Patient Preference-Centered Treatment Recommendation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22913" y="35581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Tyler Gerding, Jake Hood, &amp; Natalee Heriveaux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Clinical</a:t>
            </a:r>
            <a:r>
              <a:rPr lang="en"/>
              <a:t> Prediction Alone is Not Enough</a:t>
            </a:r>
            <a:endParaRPr/>
          </a:p>
        </p:txBody>
      </p:sp>
      <p:grpSp>
        <p:nvGrpSpPr>
          <p:cNvPr id="92" name="Google Shape;92;p14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93" name="Google Shape;93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4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ML Limitations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" name="Google Shape;96;p14"/>
          <p:cNvSpPr txBox="1"/>
          <p:nvPr>
            <p:ph idx="4294967295" type="body"/>
          </p:nvPr>
        </p:nvSpPr>
        <p:spPr>
          <a:xfrm>
            <a:off x="571500" y="1850300"/>
            <a:ext cx="2415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ML/AI models can estimate treatment effects very well, but can’t make the final call</a:t>
            </a:r>
            <a:endParaRPr sz="21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97" name="Google Shape;97;p14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98" name="Google Shape;98;p1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14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Context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1" name="Google Shape;101;p14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Each patient is unique beyond just their outward characteristics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/>
              <a:t>Physicians must balance both the physical realities/needs of a patient along with their emotional and </a:t>
            </a:r>
            <a:r>
              <a:rPr lang="en" sz="1500"/>
              <a:t>preferential</a:t>
            </a:r>
            <a:r>
              <a:rPr lang="en" sz="1500"/>
              <a:t> response to treatment options</a:t>
            </a:r>
            <a:endParaRPr sz="1500"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103" name="Google Shape;103;p1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4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Problem statement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4"/>
          <p:cNvSpPr txBox="1"/>
          <p:nvPr>
            <p:ph idx="4294967295" type="body"/>
          </p:nvPr>
        </p:nvSpPr>
        <p:spPr>
          <a:xfrm>
            <a:off x="6286400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Properly structuring patient needs can be a difficult task, often leading to </a:t>
            </a:r>
            <a:r>
              <a:rPr lang="en"/>
              <a:t>patients</a:t>
            </a:r>
            <a:r>
              <a:rPr lang="en"/>
              <a:t> preferences being disregarded or ignored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B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11700" y="1017800"/>
            <a:ext cx="8520600" cy="37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1,000 Future Patients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5 tokenized weights (WP1 to WP5) based upon a 100 point distribution system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Each weight corresponds to one outcome used in the CDS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from the last challenge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Token totals do not always sum to 100 due potentially to rounding, survey interface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Preference weights are normalized to preserve relative importance for each outcome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Intentionally excludes the X,Y, and T variables from previous dataset, meaning this is explicitly based on a patient’s personal preferences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 u="sng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Note: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next slide references provided scaling reasoning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Scaling Appropriately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240600" y="1278375"/>
            <a:ext cx="8662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Provided monetary anchors were used for w1,2, and 3; but this excludes two of the 5 output scales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last two (w4 and w5) were standardized as penalty terms to maintain comparability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Rehab time (w4) was converted to a penalty of $1,000 per week of recovery - ends up being a very heavy penalty on average so this is adjusted to what’s typical in the data, then capped out at $25k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Out-of-pocket cost (w5) was multiplied by 1,000 then treated as a direct $ penalty, since it is already in dollars at this point it directly matches the other weights at this point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130150" y="-917800"/>
            <a:ext cx="36597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24" name="Google Shape;124;p17"/>
          <p:cNvSpPr txBox="1"/>
          <p:nvPr>
            <p:ph idx="1" type="subTitle"/>
          </p:nvPr>
        </p:nvSpPr>
        <p:spPr>
          <a:xfrm>
            <a:off x="130150" y="481276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Preference-Weighted Decision Framework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/>
              <a:t>We convert treatment effects into a common value scale, weigh them based on preferences, and calculate a final score</a:t>
            </a:r>
            <a:endParaRPr b="1" i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1) Utilize the treatment effects from DataSet A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2) Translate these outcomes to a standard scale using the willingness-to-pay anchors provided (in this case $)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3) Normalize the patient preference weights from Dataset B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4) Gather values into a clear decision score (if score is above 0, recommend surgery)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5) Recommend treatment to assist in the clinical assessment and choice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 txBox="1"/>
          <p:nvPr>
            <p:ph idx="2" type="body"/>
          </p:nvPr>
        </p:nvSpPr>
        <p:spPr>
          <a:xfrm>
            <a:off x="4572000" y="646700"/>
            <a:ext cx="4572000" cy="439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u="sng"/>
              <a:t>w</a:t>
            </a:r>
            <a:r>
              <a:rPr lang="en" sz="2100" u="sng"/>
              <a:t>k​</a:t>
            </a:r>
            <a:r>
              <a:rPr lang="en" sz="3100"/>
              <a:t>=WP</a:t>
            </a:r>
            <a:r>
              <a:rPr lang="en" sz="2100"/>
              <a:t>k</a:t>
            </a:r>
            <a:r>
              <a:rPr lang="en" sz="3100"/>
              <a:t>/∑WP</a:t>
            </a:r>
            <a:r>
              <a:rPr lang="en" sz="2100"/>
              <a:t>j </a:t>
            </a:r>
            <a:r>
              <a:rPr lang="en" sz="1300"/>
              <a:t>For j = 1 to 5, k being different outcomes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 sz="1600"/>
              <a:t>Wk</a:t>
            </a:r>
            <a:r>
              <a:rPr lang="en" sz="1600"/>
              <a:t> - Patient Preference Weight, sum to 1ish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WPk - Token Score (1 to 5)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u="sng"/>
              <a:t>Vk </a:t>
            </a:r>
            <a:r>
              <a:rPr lang="en"/>
              <a:t>= </a:t>
            </a:r>
            <a:r>
              <a:rPr lang="en"/>
              <a:t>willingness</a:t>
            </a:r>
            <a:r>
              <a:rPr lang="en"/>
              <a:t> to pay $ (ak) * direction(dk) * TEk (from Dataset A)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Vk - Value difference between surgery and conservative care, ak is the provided $ amount, dk +1 for better and -1 for worse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Dk- +1 if adds value, -1 if the outcome takes value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500" u="sng"/>
              <a:t>Score</a:t>
            </a:r>
            <a:r>
              <a:rPr lang="en" sz="2500"/>
              <a:t>=∑wk​×Vk​</a:t>
            </a:r>
            <a:r>
              <a:rPr lang="en"/>
              <a:t> </a:t>
            </a:r>
            <a:r>
              <a:rPr lang="en" sz="1300"/>
              <a:t>for k= 1 to 5</a:t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Mathematical Example for 117 (For reference)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391025" y="1143000"/>
            <a:ext cx="1503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WP1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= 32.84230393</a:t>
            </a:r>
            <a:br>
              <a:rPr lang="en" sz="1100">
                <a:latin typeface="Roboto"/>
                <a:ea typeface="Roboto"/>
                <a:cs typeface="Roboto"/>
                <a:sym typeface="Roboto"/>
              </a:rPr>
            </a:b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WP2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= 11.27050540</a:t>
            </a:r>
            <a:br>
              <a:rPr lang="en" sz="1100">
                <a:latin typeface="Roboto"/>
                <a:ea typeface="Roboto"/>
                <a:cs typeface="Roboto"/>
                <a:sym typeface="Roboto"/>
              </a:rPr>
            </a:b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WP3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= 59.58044664</a:t>
            </a:r>
            <a:br>
              <a:rPr lang="en" sz="1100">
                <a:latin typeface="Roboto"/>
                <a:ea typeface="Roboto"/>
                <a:cs typeface="Roboto"/>
                <a:sym typeface="Roboto"/>
              </a:rPr>
            </a:b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WP4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= 18.51752513</a:t>
            </a:r>
            <a:br>
              <a:rPr lang="en" sz="1100">
                <a:latin typeface="Roboto"/>
                <a:ea typeface="Roboto"/>
                <a:cs typeface="Roboto"/>
                <a:sym typeface="Roboto"/>
              </a:rPr>
            </a:b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WP5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= 25.09631866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w1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= 0.222951263</a:t>
            </a:r>
            <a:br>
              <a:rPr lang="en" sz="1100">
                <a:latin typeface="Roboto"/>
                <a:ea typeface="Roboto"/>
                <a:cs typeface="Roboto"/>
                <a:sym typeface="Roboto"/>
              </a:rPr>
            </a:b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w2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= 0.076510266</a:t>
            </a:r>
            <a:br>
              <a:rPr lang="en" sz="1100">
                <a:latin typeface="Roboto"/>
                <a:ea typeface="Roboto"/>
                <a:cs typeface="Roboto"/>
                <a:sym typeface="Roboto"/>
              </a:rPr>
            </a:b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w3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= 0.404464189</a:t>
            </a:r>
            <a:br>
              <a:rPr lang="en" sz="1100">
                <a:latin typeface="Roboto"/>
                <a:ea typeface="Roboto"/>
                <a:cs typeface="Roboto"/>
                <a:sym typeface="Roboto"/>
              </a:rPr>
            </a:b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w4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= 0.125706943</a:t>
            </a:r>
            <a:br>
              <a:rPr lang="en" sz="1100">
                <a:latin typeface="Roboto"/>
                <a:ea typeface="Roboto"/>
                <a:cs typeface="Roboto"/>
                <a:sym typeface="Roboto"/>
              </a:rPr>
            </a:b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w5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= 0.170367339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3113400" y="3474150"/>
            <a:ext cx="60306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Score117​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=w1​V1​+w2​V2​+w3​V3​+w4​V4​+w5​V5​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Score117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​≈1396.09+228.66+2530.79−1568.13−1021.30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Score117 = 1566.11&gt;0, Surgery</a:t>
            </a:r>
            <a:endParaRPr b="1" sz="2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2150650" y="1218200"/>
            <a:ext cx="1567800" cy="13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TE1        0.250474 </a:t>
            </a:r>
            <a:endParaRPr sz="10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TE2       -0.199238</a:t>
            </a:r>
            <a:endParaRPr sz="10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TE3        0.250286</a:t>
            </a:r>
            <a:endParaRPr sz="10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TE4    19980.826807</a:t>
            </a:r>
            <a:endParaRPr sz="10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TE5        5.994707</a:t>
            </a:r>
            <a:endParaRPr sz="10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From DataSet A</a:t>
            </a:r>
            <a:endParaRPr sz="10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3962750" y="1143000"/>
            <a:ext cx="5376900" cy="15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V1​=+25,000×0.250474=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+$6,261.85​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V2​=−15,000×(−0.199238)=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+$2,988.57​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V3​=+25,000×0.250286=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+$6,257.15​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V4​=−TE~4​⋅25000≈−0.498979⋅25000=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−$12474.48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Normalized rehab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effect)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V5​=−5.994707×1,000=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−$5,994.71​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4030550" y="2817400"/>
            <a:ext cx="553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Normalized rehab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 1st percentile - avg TE4/99th percentile-avg TE4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41" name="Google Shape;141;p19"/>
          <p:cNvSpPr txBox="1"/>
          <p:nvPr>
            <p:ph idx="4294967295" type="body"/>
          </p:nvPr>
        </p:nvSpPr>
        <p:spPr>
          <a:xfrm>
            <a:off x="4147075" y="1108350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CEO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311700" y="882425"/>
            <a:ext cx="8520600" cy="3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Patient 117 - John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Preferences: Higher weight on long-term function (w3 of 0.44) and long-term pain reduction (w1 = 0.23). Much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lower concern on rehab time (w4 of 0.12) and cost (w5 of 0.17)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Trade-Offs (Derived from Dataset A): Surgery provides a +25% long-term pain reduction, +25%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functional improvement, -20% short term pain reduction,$6,000 higher out-of-pocket cost, and a much longer rehab time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Recommendation: Surgery 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Considering this patient’s weighted preferences and the clinical evidence provided from the previous model, we can reasonably suggest surgery as the best option for this patient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104900" y="9729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CDS Interface</a:t>
            </a:r>
            <a:endParaRPr/>
          </a:p>
        </p:txBody>
      </p:sp>
      <p:pic>
        <p:nvPicPr>
          <p:cNvPr id="148" name="Google Shape;148;p20" title="Screenshot 2026-02-07 2129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76747"/>
            <a:ext cx="7283201" cy="3902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clinicians can use the CDS:</a:t>
            </a:r>
            <a:endParaRPr/>
          </a:p>
        </p:txBody>
      </p:sp>
      <p:sp>
        <p:nvSpPr>
          <p:cNvPr id="154" name="Google Shape;154;p21"/>
          <p:cNvSpPr txBox="1"/>
          <p:nvPr/>
        </p:nvSpPr>
        <p:spPr>
          <a:xfrm>
            <a:off x="187275" y="1158050"/>
            <a:ext cx="8520600" cy="3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Patient completes a 100 - point preference survey before their evaluation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Clinician reviews the CDS and views the patient’s records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CDS provides treatment recommendations based on historical clinical evidence as well as the patient’s preferences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Clinician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reviews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these outcomes with the patient, discussing benefits and trade-offs, then expressing their own expert insight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healthcare professional can then further consult the patient with their personal values and priorities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clinician and patient arrive at a shared decision on what treatment option will be best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265500" y="-5233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endParaRPr/>
          </a:p>
        </p:txBody>
      </p:sp>
      <p:sp>
        <p:nvSpPr>
          <p:cNvPr id="160" name="Google Shape;160;p22"/>
          <p:cNvSpPr txBox="1"/>
          <p:nvPr>
            <p:ph idx="1" type="subTitle"/>
          </p:nvPr>
        </p:nvSpPr>
        <p:spPr>
          <a:xfrm>
            <a:off x="265500" y="1041200"/>
            <a:ext cx="4045200" cy="39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Patients recommended surgery often place greater weight on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Long-term functional improvement (w3),. This is by far the most influential preference, patients wanting long term function are likely to be recommended surgery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Long-term pain reduction (w1 slightly)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Patients recommended conservative care place greater weight on: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Rehabilitation burden (w4)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Out-of-pocket cost (w5)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Treatment related pain (w2) matters, but this along with w1 are not the primary differentiators when considering long-term payoffs </a:t>
            </a:r>
            <a:endParaRPr sz="1400"/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500" y="2770375"/>
            <a:ext cx="4528500" cy="2252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5500" y="317825"/>
            <a:ext cx="4528501" cy="2189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0" y="9022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Treatment decisions involve noteworthy </a:t>
            </a:r>
            <a:r>
              <a:rPr lang="en"/>
              <a:t>trade offs</a:t>
            </a:r>
            <a:r>
              <a:rPr lang="en"/>
              <a:t> across different patient </a:t>
            </a:r>
            <a:r>
              <a:rPr lang="en"/>
              <a:t>preferences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Clinical evidence is great, but it isn’t everything when it comes to healthcare, especially considering patient values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same clinical data in two patients may recommend an ideal situation to one patient, and a very inconvenient one to another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CDS framework combines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Treatment effects based on clinical evidence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Patient provided preferences in their outcomes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best decision is not just the most accurate, but is also the best fit for the clinician and the patient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